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ontserrat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de7df959a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de7df959a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242d87ef3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242d87ef3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5a3c000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5a3c000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3c04bd2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3c04bd2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7cc44a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f7cc44a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5a3c0007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5a3c0007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5a3c0007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5a3c0007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42d87ef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42d87ef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3a441a9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3a441a9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5a3c0007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5a3c0007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3a441a95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3a441a95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242d87ef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242d87ef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3a441a95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3a441a95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3a441a95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3a441a95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42d87ef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42d87ef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3a441a95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d3a441a95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3a441a95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3a441a95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3a441a95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3a441a95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d3a441a95c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d3a441a95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3c04bd2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3c04bd2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3a441a95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3a441a95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42d87ef3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242d87ef3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3a441a95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3a441a95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3a441a95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3a441a9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3a441a95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d3a441a95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3a441a95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d3a441a95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3a441a95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3a441a95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3a441a95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3a441a95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3a441a95c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3a441a95c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2939352" y="1608025"/>
            <a:ext cx="6577500" cy="25335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3379450" y="1876025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EXACT </a:t>
            </a:r>
            <a:r>
              <a:rPr i="1" lang="pt-BR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CLUB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79450" y="26791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Como realizar onboarding e rampeamento de novos colaboradores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503725" y="2544950"/>
            <a:ext cx="545100" cy="114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225" y="4615800"/>
            <a:ext cx="1261675" cy="310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 flipH="1">
            <a:off x="658525" y="-437050"/>
            <a:ext cx="1627500" cy="17286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flipH="1">
            <a:off x="-418949" y="1033252"/>
            <a:ext cx="1627500" cy="17286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1503950" y="15863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Meu objetivo com você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776850" y="2363650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Mostrar um caminho para que o novo colaborador da sua empresa esteja preparado para os desafios que vai enfrentar no dia-a-dia da operação.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4"/>
          <p:cNvCxnSpPr/>
          <p:nvPr/>
        </p:nvCxnSpPr>
        <p:spPr>
          <a:xfrm flipH="1" rot="-5400000">
            <a:off x="1266825" y="180975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/>
          <p:nvPr/>
        </p:nvCxnSpPr>
        <p:spPr>
          <a:xfrm flipH="1">
            <a:off x="6991275" y="3248025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1503950" y="15863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 gere ROI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776850" y="2363650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 o</a:t>
            </a: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tempo gasto no processo seletivo retorne em ganho de eficiência e envolvimento por parte do novo colaborador.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 flipH="1" rot="-5400000">
            <a:off x="1266825" y="180975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5"/>
          <p:cNvCxnSpPr/>
          <p:nvPr/>
        </p:nvCxnSpPr>
        <p:spPr>
          <a:xfrm flipH="1">
            <a:off x="6894825" y="2990850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1773450" y="1981175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ENCANTAR E MOTIVAR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003400" y="1348775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6"/>
          <p:cNvCxnSpPr/>
          <p:nvPr/>
        </p:nvCxnSpPr>
        <p:spPr>
          <a:xfrm flipH="1" rot="-5400000">
            <a:off x="1651575" y="2143875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6"/>
          <p:cNvCxnSpPr/>
          <p:nvPr/>
        </p:nvCxnSpPr>
        <p:spPr>
          <a:xfrm flipH="1">
            <a:off x="6559450" y="2362200"/>
            <a:ext cx="1266900" cy="419100"/>
          </a:xfrm>
          <a:prstGeom prst="bentConnector3">
            <a:avLst>
              <a:gd fmla="val 47981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que é um Playbook?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08072" y="1750125"/>
            <a:ext cx="4271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playbook é um documento estratégico que contém todos os processos, políticas e melhores práticas necessárias para os colaboradores desempenharem suas funções de maneira eficaz.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691300" y="1673925"/>
            <a:ext cx="3900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Reduz a curva de aprendizado e cria uniformidade no desempenho dos colaboradores.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75525" y="3069450"/>
            <a:ext cx="42714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Metodologia 5W2H – Ferramenta para definir processos claros.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719975" y="3060750"/>
            <a:ext cx="39009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6086850" y="-96875"/>
            <a:ext cx="3168600" cy="534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Metodologia 5w2h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80705" y="1750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Foi criada na indústria automobilística japonesa: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(O que?): O que será incluído no playbook?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(Por que?): Por que é necessário criar o playbook?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Who (Quem?): Quem será responsável por criar e atualizar o playbook?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(Onde?): Onde o playbook será disponibilizado?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When (Quando?): Quando o playbook será criado e atualizado?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(Como?): Como será estruturado o conteúdo do playbook?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Much (Quanto): Quanto tempo e recurso serão necessários para criar o playbook?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3100" y="2009175"/>
            <a:ext cx="2722376" cy="27223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Estrutura do Playbook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80705" y="1750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Seções Principais: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Visão, missão e Valores;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Organograma e Funções;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Rotinas Operacionais;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Ferramentas e Softwares Utilizados;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Indicadores e Metas*;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Versão: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Online;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Física;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4825" y="1850550"/>
            <a:ext cx="195262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3834750" y="3632550"/>
            <a:ext cx="22521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*Dica: 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Metas SMART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 - Específica;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 - Mensurável;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- Atingível;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 - Relevante;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 - Temporal;</a:t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" name="Google Shape;120;p19"/>
          <p:cNvCxnSpPr>
            <a:endCxn id="119" idx="1"/>
          </p:cNvCxnSpPr>
          <p:nvPr/>
        </p:nvCxnSpPr>
        <p:spPr>
          <a:xfrm>
            <a:off x="2612250" y="3381750"/>
            <a:ext cx="1222500" cy="460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Ferramentas Online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280705" y="1750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Montserrat"/>
              <a:buChar char="❏"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 versão online onde a gente pode armazenar as informações: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-"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Google Sites ou </a:t>
            </a: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Classroom</a:t>
            </a: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-"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Notion;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-"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Trello; 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-"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Evernote;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4700" y="2343300"/>
            <a:ext cx="3092901" cy="174233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586150" y="335600"/>
            <a:ext cx="60762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Benefícios de um Playbook Bem Estruturado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208075" y="2067775"/>
            <a:ext cx="4271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Montserrat"/>
              <a:buChar char="❏"/>
            </a:pP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Clareza nos processo.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Montserrat"/>
              <a:buChar char="❏"/>
            </a:pP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Redução de dúvidas e falhas.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Montserrat"/>
              <a:buChar char="❏"/>
            </a:pP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Aumento de autonomia e confiança.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479475" y="2067775"/>
            <a:ext cx="3900900" cy="1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Exemplo prático:</a:t>
            </a:r>
            <a:r>
              <a:rPr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Amazon atualiza seus playbooks a cada ciclo trimestral, baseando-se no feedback de seus colaboradores, para garantir que os processos </a:t>
            </a:r>
            <a:r>
              <a:rPr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estejam</a:t>
            </a:r>
            <a:r>
              <a:rPr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sempre otimizados.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OBJETIVO </a:t>
            </a:r>
            <a:r>
              <a:rPr b="1" lang="pt-BR" sz="2000" u="sng"/>
              <a:t>É QUE O </a:t>
            </a:r>
            <a:endParaRPr b="1" sz="20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u="sng"/>
              <a:t>ROI</a:t>
            </a:r>
            <a:r>
              <a:rPr lang="pt-BR" sz="2000"/>
              <a:t> DESSE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INVESTIMENTO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SE PAGUE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 TE GERE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ÓTIMOS RETORNOS!</a:t>
            </a:r>
            <a:endParaRPr sz="2000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 A Importância da Educação no Onboarding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280705" y="1750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Importância:</a:t>
            </a: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educação durante o onboarding é fundamental para garantir que os novos colaboradores estejam capacitados para desempenhar suas funções de maneira eficaz e integrada com a cultura da empresa.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Benefícios: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Acelera o tempo até que o colaborador se torne produtivo.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Reduz erros e retrabalho, ao ensinar processos corretos desde o início.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Promove retenção de talentos ao proporcionar uma experiência de aprendizado estruturada e valiosa.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Metodologias de Educação no Onboarding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08072" y="1750125"/>
            <a:ext cx="4271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Blended Learning (Aprendizado Híbrido): 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Combina o aprendizado online com sessões presenciais, oferecendo flexibilidade e interação ao mesmo tempo. 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691300" y="1673925"/>
            <a:ext cx="3900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Social Learning (Aprendizado Social): </a:t>
            </a: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Envolve o aprendizado em grupo, onde os colaboradores interagem, compartilham experiências e aprendem uns com os outros em um ambiente colaborativo.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175525" y="3069450"/>
            <a:ext cx="42714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Microlearning: 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Oferece pequenos blocos de conteúdo com duração de 5 a 15 minutos, focando em um conceito ou habilidade específica. Isso torna o aprendizado mais fácil de digerir e aplicar.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719975" y="3060750"/>
            <a:ext cx="39009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Learning by Doing: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Práticas no trabalho, onde o colaborador aprende realizando suas tarefas, recebendo feedback em tempo real.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596275" y="325475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Princípios da Andragogia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280705" y="1750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Conceito: </a:t>
            </a: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andragogia foca no aprendizado de adultos, reconhecendo que os adultos têm necessidades e motivações diferentes das crianças no processo de aprendizado.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Autonomia e Autodireção;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Experiência Prévia;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Aplicabilidade Imediata;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Orientação para Problemas Práticos;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699" y="2191425"/>
            <a:ext cx="2868901" cy="21516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Semana de Integração (40 horas)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596275" y="325475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Exemplo de Divisão de Horas em Educação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280705" y="16691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Treinamento Corporativo (8 horas):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da cultura, missão e valores da empresa.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Ferramentas e Processos (12 horas):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Treinamento em sistemas internos, metodologias e práticas do time.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Educação sobre Produtos (10 horas):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Entendimento detalhado dos produtos/serviços oferecidos pela empresa.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Treinamentos Comportamentais (6 horas):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Dinâmicas para desenvolver habilidades comportamentais e soft skills.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000"/>
              <a:buFont typeface="Montserrat"/>
              <a:buChar char="❏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Prático (4 horas):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Atividades práticas com o mentor para aplicar o conteúdo aprendido.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/>
        </p:nvSpPr>
        <p:spPr>
          <a:xfrm>
            <a:off x="1503950" y="15863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70 - 20 - 10: 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2140400" y="2383900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70% aprendizado prático;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20% mentoria; 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10% teoria;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26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6"/>
          <p:cNvCxnSpPr/>
          <p:nvPr/>
        </p:nvCxnSpPr>
        <p:spPr>
          <a:xfrm flipH="1" rot="-5400000">
            <a:off x="1266825" y="180975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6"/>
          <p:cNvCxnSpPr/>
          <p:nvPr/>
        </p:nvCxnSpPr>
        <p:spPr>
          <a:xfrm flipH="1">
            <a:off x="5614275" y="2940225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586150" y="305225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3. Porque Despender tempo com treinamento de ferramentas?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280705" y="1821000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Produtividade e Eficiência;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Redução de Erros Operacionais;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Aceleração da Integração ao Fluxo de Trabalho;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Redução do Tempo de Suporte e Necessidade de Retrabalho;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Alinhamento com as Práticas e Políticas da Empresa;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Engajamento e Satisfação do Colaborador;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099" y="2161050"/>
            <a:ext cx="2868900" cy="21516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586150" y="335600"/>
            <a:ext cx="52662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Metodologias para Treinamento em Ferramentas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08072" y="1750125"/>
            <a:ext cx="4271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Hands-on (Aprendizado Prático):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 colaborador aprende utilizando diretamente as ferramentas, aplicando conceitos teóricos em cenários reais ou simulados.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4691300" y="1673925"/>
            <a:ext cx="3900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Simulações Realistas: </a:t>
            </a: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Criação de cenários simulados que espelham situações reais do dia a dia da empresa, permitindo ao colaborador aplicar as ferramentas em condições controladas.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175525" y="3069450"/>
            <a:ext cx="42714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Shadowing (Acompanhamento): 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novo colaborador acompanha um profissional experiente que demonstra o uso correto das ferramentas.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4719975" y="3060750"/>
            <a:ext cx="39009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Microlearning: </a:t>
            </a: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Uso de pequenos módulos de aprendizado sobre as ferramentas, com foco em funcionalidades específicas.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/>
        </p:nvSpPr>
        <p:spPr>
          <a:xfrm>
            <a:off x="1503950" y="15863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 Espaço para Erros!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2140400" y="2383900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Esse é o momento para o novo colaborador testar as possibilidades e ver os pontos que estão dando certo e os de melhoria.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29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9"/>
          <p:cNvCxnSpPr/>
          <p:nvPr/>
        </p:nvCxnSpPr>
        <p:spPr>
          <a:xfrm flipH="1" rot="-5400000">
            <a:off x="1418700" y="288300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9"/>
          <p:cNvCxnSpPr/>
          <p:nvPr/>
        </p:nvCxnSpPr>
        <p:spPr>
          <a:xfrm flipH="1">
            <a:off x="5928150" y="3264000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</a:rPr>
              <a:t>Divisão de Horas: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dk1"/>
                </a:solidFill>
              </a:rPr>
              <a:t>Primeiro Módulo (8 horas):</a:t>
            </a:r>
            <a:r>
              <a:rPr lang="pt-BR" sz="1200">
                <a:solidFill>
                  <a:schemeClr val="dk1"/>
                </a:solidFill>
              </a:rPr>
              <a:t> Introdução à interface e funcionalidades básicas da ferramenta.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dk1"/>
                </a:solidFill>
              </a:rPr>
              <a:t>Segundo Módulo (6 horas):</a:t>
            </a:r>
            <a:r>
              <a:rPr lang="pt-BR" sz="1200">
                <a:solidFill>
                  <a:schemeClr val="dk1"/>
                </a:solidFill>
              </a:rPr>
              <a:t> Treinamento prático em cenários simulados, com resolução de problemas e execução de tarefas.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u="sng">
                <a:solidFill>
                  <a:schemeClr val="dk1"/>
                </a:solidFill>
              </a:rPr>
              <a:t>Terceiro Módulo (4 horas):</a:t>
            </a:r>
            <a:r>
              <a:rPr lang="pt-BR" sz="1200">
                <a:solidFill>
                  <a:schemeClr val="dk1"/>
                </a:solidFill>
              </a:rPr>
              <a:t> Avaliação prática e feedback com exercícios avançados e cenário real supervisionado.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u="sng">
                <a:solidFill>
                  <a:schemeClr val="dk1"/>
                </a:solidFill>
              </a:rPr>
              <a:t>Quarto Módulo (2 horas):</a:t>
            </a:r>
            <a:r>
              <a:rPr lang="pt-BR" sz="1200">
                <a:solidFill>
                  <a:schemeClr val="dk1"/>
                </a:solidFill>
              </a:rPr>
              <a:t> Revisão final e suporte contínuo (FAQs, tutoriais online, contato com o TI).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596275" y="325475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Exemplo Prático e Divisão de Horas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80705" y="1615625"/>
            <a:ext cx="5384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Font typeface="Montserrat"/>
              <a:buChar char="❏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CRM: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Treinamento prático em como registrar clientes, monitorar interações e gerar relatórios de vendas.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Font typeface="Montserrat"/>
              <a:buChar char="❏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Software de Suporte ao Cliente: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Simulações de atendimentos reais, inserção de tickets e resoluções de casos.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Font typeface="Montserrat"/>
              <a:buChar char="❏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Ferramentas de Colaboração (Slack, Teams):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Aplicação em tempo real durante reuniões e comunicação interna, aprendendo a criar canais, gerenciar grupos e usar funcionalidades avançadas.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Font typeface="Montserrat"/>
              <a:buChar char="❏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Produto Comercializado pela Empresa: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Liberar uma versão do produto, para que o novo colaborador explore as possibilidades e veja na prática as variáveis que podem aparecer.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/>
        </p:nvSpPr>
        <p:spPr>
          <a:xfrm>
            <a:off x="1773450" y="1981175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Gaste Tempo Treinando Produto!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4003400" y="1348775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3" name="Google Shape;233;p31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1"/>
          <p:cNvCxnSpPr/>
          <p:nvPr/>
        </p:nvCxnSpPr>
        <p:spPr>
          <a:xfrm flipH="1" rot="-5400000">
            <a:off x="1651575" y="2143875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1"/>
          <p:cNvCxnSpPr/>
          <p:nvPr/>
        </p:nvCxnSpPr>
        <p:spPr>
          <a:xfrm flipH="1">
            <a:off x="6559450" y="2362200"/>
            <a:ext cx="1266900" cy="419100"/>
          </a:xfrm>
          <a:prstGeom prst="bentConnector3">
            <a:avLst>
              <a:gd fmla="val 47981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/>
        </p:nvSpPr>
        <p:spPr>
          <a:xfrm>
            <a:off x="1773450" y="1981175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ROLEPLAYS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003400" y="1348775"/>
            <a:ext cx="43242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32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2"/>
          <p:cNvCxnSpPr/>
          <p:nvPr/>
        </p:nvCxnSpPr>
        <p:spPr>
          <a:xfrm flipH="1" rot="-5400000">
            <a:off x="1651575" y="2143875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2"/>
          <p:cNvCxnSpPr/>
          <p:nvPr/>
        </p:nvCxnSpPr>
        <p:spPr>
          <a:xfrm flipH="1">
            <a:off x="6559450" y="2362200"/>
            <a:ext cx="1266900" cy="419100"/>
          </a:xfrm>
          <a:prstGeom prst="bentConnector3">
            <a:avLst>
              <a:gd fmla="val 47981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 Modelos de onboarding, exemplificações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208072" y="1750125"/>
            <a:ext cx="4271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processo de onboarding, é essencial escolher um modelo que se alinhe à cultura e aos objetivos da empresa.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4691300" y="1673925"/>
            <a:ext cx="3900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Nesta seção, apresentaremos cinco modelos de onboarding, destacando suas características e aplicações.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175525" y="3069450"/>
            <a:ext cx="42714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Cada abordagem oferece um caminho diferente para garantir que novos colaboradores se adaptem e atinjam seu pleno potencial rapidamente.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4719975" y="3060750"/>
            <a:ext cx="39009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Exemplo: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Primeiro Dia: </a:t>
            </a:r>
            <a:r>
              <a:rPr lang="pt-BR" sz="1100">
                <a:solidFill>
                  <a:schemeClr val="dk1"/>
                </a:solidFill>
              </a:rPr>
              <a:t>Boas-Vindas e Apresentação;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Primeira Semana: </a:t>
            </a:r>
            <a:r>
              <a:rPr lang="pt-BR" sz="1100">
                <a:solidFill>
                  <a:schemeClr val="dk1"/>
                </a:solidFill>
              </a:rPr>
              <a:t>Treinamentos Básicos;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Primeiro Mês: </a:t>
            </a:r>
            <a:r>
              <a:rPr lang="pt-BR" sz="1100">
                <a:solidFill>
                  <a:schemeClr val="dk1"/>
                </a:solidFill>
              </a:rPr>
              <a:t>Integração Funcional;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Primeiros Três Meses: </a:t>
            </a:r>
            <a:r>
              <a:rPr lang="pt-BR" sz="1100">
                <a:solidFill>
                  <a:schemeClr val="dk1"/>
                </a:solidFill>
              </a:rPr>
              <a:t>Acompanhamento e Feedback;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Tradicional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271150" y="1751175"/>
            <a:ext cx="5572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Estrutura: Um processo linear e cronológico que segue uma série de etapas padronizadas para todos os novos colaboradores, desde apresentações até treinamentos.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Objetivo: Oferecer uma integração geral e estruturada, garantindo que todos os colaboradores recebam as mesmas informações sobre a empresa, suas políticas e processos.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Vantagens: 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Simples de implementar, oferece estrutura clara e previsível, colaboradores com a mesma base de conhecimento.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Desvantagens: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Pouca flexibilidade para necessidades individuais, pode ser visto como engessado e nem sempre acompanha a velocidade de adaptação dos colaboradores.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>
            <a:off x="6054700" y="-80850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Exemplo: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1:</a:t>
            </a:r>
            <a:r>
              <a:rPr lang="pt-BR" sz="1100">
                <a:solidFill>
                  <a:schemeClr val="dk1"/>
                </a:solidFill>
              </a:rPr>
              <a:t> Imersão nas principais áreas (RH, TI, Vendas, Atendimento), com job shadowing em cada uma.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2:</a:t>
            </a:r>
            <a:r>
              <a:rPr lang="pt-BR" sz="1100">
                <a:solidFill>
                  <a:schemeClr val="dk1"/>
                </a:solidFill>
              </a:rPr>
              <a:t> Roleplaying e simulações de cenários específicos, como atendimento ao cliente ou execução de tarefas técnicas.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3:</a:t>
            </a:r>
            <a:r>
              <a:rPr lang="pt-BR" sz="1100">
                <a:solidFill>
                  <a:schemeClr val="dk1"/>
                </a:solidFill>
              </a:rPr>
              <a:t> Execução de projetos práticos e feedback intensivo dos mentores.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4:</a:t>
            </a:r>
            <a:r>
              <a:rPr lang="pt-BR" sz="1100">
                <a:solidFill>
                  <a:schemeClr val="dk1"/>
                </a:solidFill>
              </a:rPr>
              <a:t> Avaliação de desempenho e plano de ação para desenvolvimento contínuo.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5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Baseado em Experiência Imersiva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271150" y="1791675"/>
            <a:ext cx="5572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Estrutura: Imersão total em todas as áreas da empresa, simulação de situações reais e existe o processo de job shadowing;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Objetivo: Criar uma experiência profunda e realista do dia a dia da empresa, promovendo uma integração rápida e eficaz com a cultura e as práticas operacionais.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Vantagens: 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Aumenta o engajamento e melhora a retenção do conteúdo.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Desvantagens: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Exige desenvolvimento de plataformas interativas e design apropriado.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Exemplo: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Desafios e missões:</a:t>
            </a:r>
            <a:r>
              <a:rPr lang="pt-BR" sz="1100">
                <a:solidFill>
                  <a:schemeClr val="dk1"/>
                </a:solidFill>
              </a:rPr>
              <a:t> O novo colaborador </a:t>
            </a:r>
            <a:r>
              <a:rPr lang="pt-BR" sz="1100">
                <a:solidFill>
                  <a:schemeClr val="dk1"/>
                </a:solidFill>
              </a:rPr>
              <a:t>completa</a:t>
            </a:r>
            <a:r>
              <a:rPr lang="pt-BR" sz="1100">
                <a:solidFill>
                  <a:schemeClr val="dk1"/>
                </a:solidFill>
              </a:rPr>
              <a:t> tarefas e recebe recompensas por cada fase concluída.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Pontuação e níveis:</a:t>
            </a:r>
            <a:r>
              <a:rPr lang="pt-BR" sz="1100">
                <a:solidFill>
                  <a:schemeClr val="dk1"/>
                </a:solidFill>
              </a:rPr>
              <a:t> A progressão no onboarding é medida com níveis de habilidades adquiridas.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Feedback em tempo real:</a:t>
            </a:r>
            <a:r>
              <a:rPr lang="pt-BR" sz="1100">
                <a:solidFill>
                  <a:schemeClr val="dk1"/>
                </a:solidFill>
              </a:rPr>
              <a:t> O colaborador recebe retorno imediato sobre seu desempenho.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6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Gamificado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271150" y="1615625"/>
            <a:ext cx="55728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Estrutura: O processo de onboarding é transformado em uma experiência interativa e lúdica, utilizando elementos de jogo para motivar e engajar os colaboradores.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Objetivo: Tornar o aprendizado mais dinâmico e divertido, aumentando a retenção de informações e o engajamento.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Vantagens: 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Aumenta o engajamento e melhora a retenção do conteúdo.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Desvantagens:</a:t>
            </a: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Exige desenvolvimento de plataformas interativas e design apropriado.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Exemplo: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Onboarding Digital:</a:t>
            </a:r>
            <a:r>
              <a:rPr lang="pt-BR" sz="1100">
                <a:solidFill>
                  <a:schemeClr val="dk1"/>
                </a:solidFill>
              </a:rPr>
              <a:t> Primeiro contato ocorre por meio de módulos e-learning antes do colaborador iniciar o trabalho presencial.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Onboarding Presencial:</a:t>
            </a:r>
            <a:r>
              <a:rPr lang="pt-BR" sz="1100">
                <a:solidFill>
                  <a:schemeClr val="dk1"/>
                </a:solidFill>
              </a:rPr>
              <a:t> Após completar os módulos online, o colaborador realiza treinamentos práticos e interações com colegas no local de trabalho.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Sessões de Perguntas e Respostas:</a:t>
            </a:r>
            <a:r>
              <a:rPr lang="pt-BR" sz="1100">
                <a:solidFill>
                  <a:schemeClr val="dk1"/>
                </a:solidFill>
              </a:rPr>
              <a:t> Momentos agendados para que o colaborador possa tirar dúvidas com gestores e especialistas.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Híbrido </a:t>
            </a:r>
            <a:endParaRPr sz="25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(Online + Presencial)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271150" y="1811925"/>
            <a:ext cx="5572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Estrutura: O processo será dividido em momentos que o novo colaborador vai ter atividades online e em outro momento atividades presenciais.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Objetivo: Proporcionar flexibilidade ao colaborador, permitindo que ele absorva as informações em seu próprio ritmo antes de integrar-se fisicamente ao ambiente de trabalho.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Vantagens: 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Flexibilidade, ritmo de aprendizado personalizado e reduz custos no processo presencial.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Desvantagens: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Exige desenvolvimento de plataformas interativas e design apropriado.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/>
          <p:nvPr/>
        </p:nvSpPr>
        <p:spPr>
          <a:xfrm>
            <a:off x="6086850" y="-96875"/>
            <a:ext cx="3168600" cy="53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Exemplo: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1 (Sprint 1):</a:t>
            </a:r>
            <a:r>
              <a:rPr lang="pt-BR" sz="1100">
                <a:solidFill>
                  <a:schemeClr val="dk1"/>
                </a:solidFill>
              </a:rPr>
              <a:t> Introdução à cultura e missão da empresa.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2 (Sprint 2):</a:t>
            </a:r>
            <a:r>
              <a:rPr lang="pt-BR" sz="1100">
                <a:solidFill>
                  <a:schemeClr val="dk1"/>
                </a:solidFill>
              </a:rPr>
              <a:t> Treinamento técnico sobre ferramentas e fluxos de trabalho.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3 (Sprint 3):</a:t>
            </a:r>
            <a:r>
              <a:rPr lang="pt-BR" sz="1100">
                <a:solidFill>
                  <a:schemeClr val="dk1"/>
                </a:solidFill>
              </a:rPr>
              <a:t> Execução prática e primeiros projetos reais, com suporte do mentor.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Semana 4 (Sprint 4):</a:t>
            </a:r>
            <a:r>
              <a:rPr lang="pt-BR" sz="1100">
                <a:solidFill>
                  <a:schemeClr val="dk1"/>
                </a:solidFill>
              </a:rPr>
              <a:t> Revisão e refinamento das práticas, conclusão do onboarding.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8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em Sprints</a:t>
            </a:r>
            <a:endParaRPr i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271150" y="1751175"/>
            <a:ext cx="5572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Estrutura: Sprints semanais, com reuniões diárias para alinhar expectativas e no final de cada sprint ter uma avaliação do que foi aprendido, e o que precisa ser revisado.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Objetivo: Utilizar uma metodologia ágil, adaptando o onboarding de forma iterativa e ajustando o conteúdo com base no progresso do novo colaborador.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Vantagens: 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Flexibilidade, encoraja autonomia e autoavaliação, permite ajustes rápidos e oportunos com base nas necessidades.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-"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Desvantagens: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Maior necessidade de planejamento, exige acompanhamento próximo e curva de aprendizado fragmentado.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/>
          <p:nvPr/>
        </p:nvSpPr>
        <p:spPr>
          <a:xfrm>
            <a:off x="-420650" y="-181675"/>
            <a:ext cx="9751800" cy="1797300"/>
          </a:xfrm>
          <a:prstGeom prst="rect">
            <a:avLst/>
          </a:prstGeom>
          <a:solidFill>
            <a:srgbClr val="02192D">
              <a:alpha val="8485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9"/>
          <p:cNvSpPr txBox="1"/>
          <p:nvPr/>
        </p:nvSpPr>
        <p:spPr>
          <a:xfrm>
            <a:off x="586150" y="335600"/>
            <a:ext cx="49428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Não Esqueça de Avaliar o Sucesso do Onboarding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208072" y="1750125"/>
            <a:ext cx="4271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Pesquisas de Satisfação: Aplicadas em 30, 60 e 90 dias para medir a percepção do colaborador sobre a experiência.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4691300" y="1673925"/>
            <a:ext cx="3900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Objetivo: Garantir que o processo de onboarding esteja funcionando de maneira eficiente, corrigindo problemas rapidamente e aumentando a retenção de talentos.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175525" y="3069450"/>
            <a:ext cx="42714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Avaliação de Performance Inicial: Avaliações formais de desempenho para entender a evolução técnica e comportamental do colaborador.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9"/>
          <p:cNvSpPr txBox="1"/>
          <p:nvPr/>
        </p:nvSpPr>
        <p:spPr>
          <a:xfrm>
            <a:off x="4719975" y="3060750"/>
            <a:ext cx="39009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Montserrat"/>
              <a:buChar char="❏"/>
            </a:pPr>
            <a:r>
              <a:rPr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Benefícios: Identificar pontos de melhoria no processo e mantém um acompanhamento regular da adaptação do colaborador.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1" name="Google Shape;31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50" y="4731550"/>
            <a:ext cx="947349" cy="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/>
        </p:nvSpPr>
        <p:spPr>
          <a:xfrm>
            <a:off x="1773450" y="22225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Treine, Treine, Treine…</a:t>
            </a:r>
            <a:endParaRPr i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40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0"/>
          <p:cNvCxnSpPr/>
          <p:nvPr/>
        </p:nvCxnSpPr>
        <p:spPr>
          <a:xfrm flipH="1" rot="-5400000">
            <a:off x="1428825" y="232375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40"/>
          <p:cNvCxnSpPr/>
          <p:nvPr/>
        </p:nvCxnSpPr>
        <p:spPr>
          <a:xfrm flipH="1">
            <a:off x="6417525" y="2704750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/>
        </p:nvSpPr>
        <p:spPr>
          <a:xfrm>
            <a:off x="1773450" y="2222500"/>
            <a:ext cx="5597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OBRIGADO!</a:t>
            </a:r>
            <a:endParaRPr i="1"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5" name="Google Shape;325;p41"/>
          <p:cNvCxnSpPr/>
          <p:nvPr/>
        </p:nvCxnSpPr>
        <p:spPr>
          <a:xfrm>
            <a:off x="3175000" y="22225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1"/>
          <p:cNvCxnSpPr/>
          <p:nvPr/>
        </p:nvCxnSpPr>
        <p:spPr>
          <a:xfrm flipH="1" rot="-5400000">
            <a:off x="1570575" y="2445250"/>
            <a:ext cx="1181100" cy="1181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 flipH="1">
            <a:off x="6184650" y="2826250"/>
            <a:ext cx="1266900" cy="41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