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7" r:id="rId2"/>
    <p:sldId id="261" r:id="rId3"/>
    <p:sldId id="268" r:id="rId4"/>
    <p:sldId id="262" r:id="rId5"/>
    <p:sldId id="269" r:id="rId6"/>
    <p:sldId id="263" r:id="rId7"/>
    <p:sldId id="267" r:id="rId8"/>
    <p:sldId id="264" r:id="rId9"/>
    <p:sldId id="266" r:id="rId10"/>
    <p:sldId id="270" r:id="rId11"/>
    <p:sldId id="265" r:id="rId12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000" autoAdjust="0"/>
    <p:restoredTop sz="94660"/>
  </p:normalViewPr>
  <p:slideViewPr>
    <p:cSldViewPr>
      <p:cViewPr varScale="1">
        <p:scale>
          <a:sx n="56" d="100"/>
          <a:sy n="56" d="100"/>
        </p:scale>
        <p:origin x="1296" y="27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249019" y="1019048"/>
            <a:ext cx="9693960" cy="2831413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612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612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7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612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6939" y="1899920"/>
            <a:ext cx="3433445" cy="406272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6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51828" y="1663827"/>
            <a:ext cx="3238500" cy="409638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1" i="0">
                <a:solidFill>
                  <a:srgbClr val="00612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9144000" y="0"/>
            <a:ext cx="3048000" cy="365125"/>
          </a:xfrm>
          <a:custGeom>
            <a:avLst/>
            <a:gdLst/>
            <a:ahLst/>
            <a:cxnLst/>
            <a:rect l="l" t="t" r="r" b="b"/>
            <a:pathLst>
              <a:path w="3048000" h="365125">
                <a:moveTo>
                  <a:pt x="0" y="365125"/>
                </a:moveTo>
                <a:lnTo>
                  <a:pt x="3048000" y="365125"/>
                </a:lnTo>
                <a:lnTo>
                  <a:pt x="3048000" y="0"/>
                </a:lnTo>
                <a:lnTo>
                  <a:pt x="0" y="0"/>
                </a:lnTo>
                <a:lnTo>
                  <a:pt x="0" y="365125"/>
                </a:lnTo>
                <a:close/>
              </a:path>
            </a:pathLst>
          </a:custGeom>
          <a:solidFill>
            <a:srgbClr val="FFDB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7" name="bg object 17"/>
          <p:cNvSpPr/>
          <p:nvPr/>
        </p:nvSpPr>
        <p:spPr>
          <a:xfrm>
            <a:off x="6096000" y="0"/>
            <a:ext cx="3048000" cy="365125"/>
          </a:xfrm>
          <a:custGeom>
            <a:avLst/>
            <a:gdLst/>
            <a:ahLst/>
            <a:cxnLst/>
            <a:rect l="l" t="t" r="r" b="b"/>
            <a:pathLst>
              <a:path w="3048000" h="365125">
                <a:moveTo>
                  <a:pt x="0" y="365125"/>
                </a:moveTo>
                <a:lnTo>
                  <a:pt x="3048000" y="365125"/>
                </a:lnTo>
                <a:lnTo>
                  <a:pt x="3048000" y="0"/>
                </a:lnTo>
                <a:lnTo>
                  <a:pt x="0" y="0"/>
                </a:lnTo>
                <a:lnTo>
                  <a:pt x="0" y="365125"/>
                </a:lnTo>
                <a:close/>
              </a:path>
            </a:pathLst>
          </a:custGeom>
          <a:solidFill>
            <a:srgbClr val="00943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8" name="bg object 18"/>
          <p:cNvSpPr/>
          <p:nvPr/>
        </p:nvSpPr>
        <p:spPr>
          <a:xfrm>
            <a:off x="0" y="0"/>
            <a:ext cx="6096000" cy="365125"/>
          </a:xfrm>
          <a:custGeom>
            <a:avLst/>
            <a:gdLst/>
            <a:ahLst/>
            <a:cxnLst/>
            <a:rect l="l" t="t" r="r" b="b"/>
            <a:pathLst>
              <a:path w="6096000" h="365125">
                <a:moveTo>
                  <a:pt x="6096000" y="0"/>
                </a:moveTo>
                <a:lnTo>
                  <a:pt x="0" y="0"/>
                </a:lnTo>
                <a:lnTo>
                  <a:pt x="0" y="365125"/>
                </a:lnTo>
                <a:lnTo>
                  <a:pt x="6096000" y="365125"/>
                </a:lnTo>
                <a:lnTo>
                  <a:pt x="6096000" y="0"/>
                </a:lnTo>
                <a:close/>
              </a:path>
            </a:pathLst>
          </a:custGeom>
          <a:solidFill>
            <a:srgbClr val="00612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9" name="bg object 1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54851" y="118376"/>
            <a:ext cx="789863" cy="482841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916939" y="609676"/>
            <a:ext cx="8922385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1" i="0">
                <a:solidFill>
                  <a:srgbClr val="00612F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396341" y="1667332"/>
            <a:ext cx="11008995" cy="378269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7200" b="1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3/3/2025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5400" y="1307022"/>
            <a:ext cx="9829800" cy="3785011"/>
          </a:xfrm>
          <a:prstGeom prst="rect">
            <a:avLst/>
          </a:prstGeom>
        </p:spPr>
        <p:txBody>
          <a:bodyPr vert="horz" wrap="square" lIns="0" tIns="136525" rIns="0" bIns="0" rtlCol="0" anchor="ctr">
            <a:spAutoFit/>
          </a:bodyPr>
          <a:lstStyle/>
          <a:p>
            <a:pPr marL="12700" marR="5080" indent="955675" algn="ctr">
              <a:lnSpc>
                <a:spcPts val="7780"/>
              </a:lnSpc>
              <a:spcBef>
                <a:spcPts val="1075"/>
              </a:spcBef>
            </a:pPr>
            <a:r>
              <a:rPr lang="pt-BR" sz="7200" spc="25" dirty="0"/>
              <a:t>PROGRAMA DE FORMAÇÃO DE TIME DE VENDAS</a:t>
            </a:r>
            <a:endParaRPr lang="pt-BR" sz="7200" dirty="0"/>
          </a:p>
          <a:p>
            <a:pPr algn="ctr">
              <a:lnSpc>
                <a:spcPct val="100000"/>
              </a:lnSpc>
              <a:spcBef>
                <a:spcPts val="1205"/>
              </a:spcBef>
            </a:pPr>
            <a:r>
              <a:rPr lang="pt-BR" sz="3200" b="0" spc="-50" dirty="0">
                <a:solidFill>
                  <a:srgbClr val="000000"/>
                </a:solidFill>
                <a:latin typeface="Calibri"/>
                <a:cs typeface="Calibri"/>
              </a:rPr>
              <a:t>VITAO ALIMENTOS</a:t>
            </a:r>
            <a:endParaRPr sz="32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92238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pc="-50" dirty="0"/>
              <a:t>CULTURA DE VENDAS</a:t>
            </a:r>
            <a:endParaRPr spc="-25" dirty="0"/>
          </a:p>
        </p:txBody>
      </p:sp>
      <p:sp>
        <p:nvSpPr>
          <p:cNvPr id="3" name="object 3"/>
          <p:cNvSpPr txBox="1"/>
          <p:nvPr/>
        </p:nvSpPr>
        <p:spPr>
          <a:xfrm>
            <a:off x="1393507" y="1727826"/>
            <a:ext cx="9404985" cy="51546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Ajuste cultura de venda</a:t>
            </a:r>
            <a:br>
              <a:rPr lang="pt-BR" sz="1600" dirty="0">
                <a:latin typeface="Calibri"/>
                <a:cs typeface="Calibri"/>
              </a:rPr>
            </a:br>
            <a:r>
              <a:rPr lang="pt-BR" sz="1600" dirty="0">
                <a:latin typeface="Calibri"/>
                <a:cs typeface="Calibri"/>
              </a:rPr>
              <a:t>* Venda é emociona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Meta dada é meta batida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Cultura é falar a mesma coisa até  que o comportamento reflita exatamente o que tá falando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Diagnóstico cultura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endParaRPr lang="pt-BR" sz="16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Gerar processo de treinamento diário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Montar processo reconhecimento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Ações diagnóstico cultura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Colocar indicador de venda na premiação e venda cada área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Missão de venda a todas áreas da empresa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Implantar 7 etapas de reconhecimento do </a:t>
            </a:r>
            <a:r>
              <a:rPr lang="pt-BR" sz="1600" dirty="0" err="1">
                <a:latin typeface="Calibri"/>
                <a:cs typeface="Calibri"/>
              </a:rPr>
              <a:t>pce</a:t>
            </a:r>
            <a:endParaRPr lang="pt-BR" sz="16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Construir um </a:t>
            </a:r>
            <a:r>
              <a:rPr lang="pt-BR" sz="1600" dirty="0" err="1">
                <a:latin typeface="Calibri"/>
                <a:cs typeface="Calibri"/>
              </a:rPr>
              <a:t>tima</a:t>
            </a:r>
            <a:r>
              <a:rPr lang="pt-BR" sz="1600" dirty="0">
                <a:latin typeface="Calibri"/>
                <a:cs typeface="Calibri"/>
              </a:rPr>
              <a:t> com propósito (</a:t>
            </a:r>
            <a:r>
              <a:rPr lang="pt-BR" sz="1600" dirty="0" err="1">
                <a:latin typeface="Calibri"/>
                <a:cs typeface="Calibri"/>
              </a:rPr>
              <a:t>ex</a:t>
            </a:r>
            <a:r>
              <a:rPr lang="pt-BR" sz="1600" dirty="0">
                <a:latin typeface="Calibri"/>
                <a:cs typeface="Calibri"/>
              </a:rPr>
              <a:t> do vídeo do piano)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Crescer e contribuir – sempre damos oque estamos transbordando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Comunicar várias vezes a mesma coisa – ações de várias formas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Metodologia </a:t>
            </a:r>
            <a:r>
              <a:rPr lang="pt-BR" sz="1600" dirty="0" err="1">
                <a:latin typeface="Calibri"/>
                <a:cs typeface="Calibri"/>
              </a:rPr>
              <a:t>Puch</a:t>
            </a:r>
            <a:endParaRPr lang="pt-BR" sz="16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Oque não se mede não se gerência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Levar a cultura e a importância da venda para os outros setores,(</a:t>
            </a:r>
            <a:r>
              <a:rPr lang="pt-BR" sz="1600" dirty="0" err="1">
                <a:latin typeface="Calibri"/>
                <a:cs typeface="Calibri"/>
              </a:rPr>
              <a:t>financeiro,logística,faturamento</a:t>
            </a:r>
            <a:r>
              <a:rPr lang="pt-BR" sz="1600" dirty="0">
                <a:latin typeface="Calibri"/>
                <a:cs typeface="Calibri"/>
              </a:rPr>
              <a:t>, marketing) explicar que trabalhamos igual a um relógio, um completa o outro setor.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endParaRPr lang="pt-BR" sz="1600" dirty="0">
              <a:latin typeface="Calibri"/>
              <a:cs typeface="Calibri"/>
            </a:endParaRPr>
          </a:p>
        </p:txBody>
      </p:sp>
      <p:grpSp>
        <p:nvGrpSpPr>
          <p:cNvPr id="4" name="object 4"/>
          <p:cNvGrpSpPr/>
          <p:nvPr/>
        </p:nvGrpSpPr>
        <p:grpSpPr>
          <a:xfrm>
            <a:off x="11716004" y="6364465"/>
            <a:ext cx="482600" cy="500380"/>
            <a:chOff x="11716004" y="6364465"/>
            <a:chExt cx="482600" cy="500380"/>
          </a:xfrm>
        </p:grpSpPr>
        <p:sp>
          <p:nvSpPr>
            <p:cNvPr id="5" name="object 5"/>
            <p:cNvSpPr/>
            <p:nvPr/>
          </p:nvSpPr>
          <p:spPr>
            <a:xfrm>
              <a:off x="11722354" y="6370815"/>
              <a:ext cx="469900" cy="487680"/>
            </a:xfrm>
            <a:custGeom>
              <a:avLst/>
              <a:gdLst/>
              <a:ahLst/>
              <a:cxnLst/>
              <a:rect l="l" t="t" r="r" b="b"/>
              <a:pathLst>
                <a:path w="469900" h="487679">
                  <a:moveTo>
                    <a:pt x="469696" y="0"/>
                  </a:moveTo>
                  <a:lnTo>
                    <a:pt x="0" y="0"/>
                  </a:lnTo>
                  <a:lnTo>
                    <a:pt x="0" y="487184"/>
                  </a:lnTo>
                  <a:lnTo>
                    <a:pt x="469696" y="487184"/>
                  </a:lnTo>
                  <a:lnTo>
                    <a:pt x="46969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11722354" y="6370815"/>
              <a:ext cx="469900" cy="487680"/>
            </a:xfrm>
            <a:custGeom>
              <a:avLst/>
              <a:gdLst/>
              <a:ahLst/>
              <a:cxnLst/>
              <a:rect l="l" t="t" r="r" b="b"/>
              <a:pathLst>
                <a:path w="469900" h="487679">
                  <a:moveTo>
                    <a:pt x="0" y="487184"/>
                  </a:moveTo>
                  <a:lnTo>
                    <a:pt x="469696" y="487184"/>
                  </a:lnTo>
                  <a:lnTo>
                    <a:pt x="469696" y="0"/>
                  </a:lnTo>
                  <a:lnTo>
                    <a:pt x="0" y="0"/>
                  </a:lnTo>
                  <a:lnTo>
                    <a:pt x="0" y="48718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17C43DA-2898-E8BC-FB73-EA9D92F3B4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 flipV="1">
            <a:off x="871220" y="563957"/>
            <a:ext cx="45719" cy="45719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D270AAB2-ACA5-2794-359C-16DFE398141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341" y="609676"/>
            <a:ext cx="11008995" cy="221599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Quadro da Gratidão 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VENDA É CONEXÃO HUMANA. É QUEM EU SOU.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AS PESSOAS SE CONECTAM COM A VERDADE, E QUEM VOCÊ REALMENTE É, SUA IDENTIDADE, É O QUE VAI CONECTAR.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EU VIM PARA CRESCER E PARA APRENDER A FORMAR E GERIAR UM TIME DE VENDAS. 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sz="1600" b="0" dirty="0"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NÃO É SOBRE MIM, MAS SOBRE O IMPACTO QUE EU CARREGO.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b="0" dirty="0"/>
          </a:p>
        </p:txBody>
      </p:sp>
    </p:spTree>
    <p:extLst>
      <p:ext uri="{BB962C8B-B14F-4D97-AF65-F5344CB8AC3E}">
        <p14:creationId xmlns:p14="http://schemas.microsoft.com/office/powerpoint/2010/main" val="95371198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BC6B32-AF37-E016-F591-7010BC96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17270D15-9A51-357F-C7BB-167A5C28025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92238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pc="-50" dirty="0"/>
              <a:t>CULTURA DE VENDAS E CONTRATAÇÃO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E9BD30E-FB2A-F6AB-8021-46091DC4082E}"/>
              </a:ext>
            </a:extLst>
          </p:cNvPr>
          <p:cNvSpPr txBox="1"/>
          <p:nvPr/>
        </p:nvSpPr>
        <p:spPr>
          <a:xfrm>
            <a:off x="916939" y="1984853"/>
            <a:ext cx="9404985" cy="466217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Qual a função de cada área pra venda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Brinde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Funil venda interna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Criar missões por área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Definir objetivos e </a:t>
            </a:r>
            <a:r>
              <a:rPr lang="pt-BR" sz="1600" dirty="0" err="1">
                <a:latin typeface="Calibri"/>
                <a:cs typeface="Calibri"/>
              </a:rPr>
              <a:t>okr</a:t>
            </a:r>
            <a:r>
              <a:rPr lang="pt-BR" sz="1600" dirty="0">
                <a:latin typeface="Calibri"/>
                <a:cs typeface="Calibri"/>
              </a:rPr>
              <a:t> mensal e semanal por </a:t>
            </a:r>
            <a:r>
              <a:rPr lang="pt-BR" sz="1600" dirty="0" err="1">
                <a:latin typeface="Calibri"/>
                <a:cs typeface="Calibri"/>
              </a:rPr>
              <a:t>bu</a:t>
            </a:r>
            <a:endParaRPr lang="pt-BR" sz="1600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Acompanhamento do funil de venda de cada </a:t>
            </a:r>
            <a:r>
              <a:rPr lang="pt-BR" sz="1600" dirty="0" err="1">
                <a:latin typeface="Calibri"/>
                <a:cs typeface="Calibri"/>
              </a:rPr>
              <a:t>b.u</a:t>
            </a:r>
            <a:r>
              <a:rPr lang="pt-BR" sz="1600" dirty="0">
                <a:latin typeface="Calibri"/>
                <a:cs typeface="Calibri"/>
              </a:rPr>
              <a:t>… a ponte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Montar feedback 360 comercial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Montar espaço de análises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O que fazer pra ter abundância , quais os impulsionadores : filho/ família/ boleto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Criar banco de dados dos funcionários e mural da vida de cada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Plano e feedback pra cada e extrair o melhor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Criar novas frentes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Quando o vendedor interno/externo fechar uma venda no ato ter outro percentual de comissão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Selecionar o talento individual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Celebrar cada venda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Banco da Daiane – Premiação diária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Ação social time interno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600" dirty="0">
                <a:latin typeface="Calibri"/>
                <a:cs typeface="Calibri"/>
              </a:rPr>
              <a:t>Em dificuldades tirar sempre o ponto positivo</a:t>
            </a: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D463F516-138D-3712-5736-8E6EACB17ED2}"/>
              </a:ext>
            </a:extLst>
          </p:cNvPr>
          <p:cNvGrpSpPr/>
          <p:nvPr/>
        </p:nvGrpSpPr>
        <p:grpSpPr>
          <a:xfrm>
            <a:off x="11716004" y="6364465"/>
            <a:ext cx="482600" cy="500380"/>
            <a:chOff x="11716004" y="6364465"/>
            <a:chExt cx="482600" cy="50038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B632A99B-6A9F-0A40-AE59-9D8150594EEB}"/>
                </a:ext>
              </a:extLst>
            </p:cNvPr>
            <p:cNvSpPr/>
            <p:nvPr/>
          </p:nvSpPr>
          <p:spPr>
            <a:xfrm>
              <a:off x="11722354" y="6370815"/>
              <a:ext cx="469900" cy="487680"/>
            </a:xfrm>
            <a:custGeom>
              <a:avLst/>
              <a:gdLst/>
              <a:ahLst/>
              <a:cxnLst/>
              <a:rect l="l" t="t" r="r" b="b"/>
              <a:pathLst>
                <a:path w="469900" h="487679">
                  <a:moveTo>
                    <a:pt x="469696" y="0"/>
                  </a:moveTo>
                  <a:lnTo>
                    <a:pt x="0" y="0"/>
                  </a:lnTo>
                  <a:lnTo>
                    <a:pt x="0" y="487184"/>
                  </a:lnTo>
                  <a:lnTo>
                    <a:pt x="469696" y="487184"/>
                  </a:lnTo>
                  <a:lnTo>
                    <a:pt x="46969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00B4FD7-6F5F-AF93-BDAF-4C15464E08D1}"/>
                </a:ext>
              </a:extLst>
            </p:cNvPr>
            <p:cNvSpPr/>
            <p:nvPr/>
          </p:nvSpPr>
          <p:spPr>
            <a:xfrm>
              <a:off x="11722354" y="6370815"/>
              <a:ext cx="469900" cy="487680"/>
            </a:xfrm>
            <a:custGeom>
              <a:avLst/>
              <a:gdLst/>
              <a:ahLst/>
              <a:cxnLst/>
              <a:rect l="l" t="t" r="r" b="b"/>
              <a:pathLst>
                <a:path w="469900" h="487679">
                  <a:moveTo>
                    <a:pt x="0" y="487184"/>
                  </a:moveTo>
                  <a:lnTo>
                    <a:pt x="469696" y="487184"/>
                  </a:lnTo>
                  <a:lnTo>
                    <a:pt x="469696" y="0"/>
                  </a:lnTo>
                  <a:lnTo>
                    <a:pt x="0" y="0"/>
                  </a:lnTo>
                  <a:lnTo>
                    <a:pt x="0" y="48718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874699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4742181-95EE-3425-422F-A833A6B28E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 flipV="1">
            <a:off x="871220" y="563957"/>
            <a:ext cx="45719" cy="45719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71E2AFA9-A489-642A-565A-39BA57873F5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341" y="807718"/>
            <a:ext cx="11008995" cy="2215991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latin typeface="+mj-lt"/>
                <a:cs typeface="Calibri"/>
              </a:rPr>
              <a:t> Nunca subestimar o valor de compra de um cliente, acreditar sempre no potencial – Metáfora do peixe pequeno/frigideira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latin typeface="+mj-lt"/>
              </a:rPr>
              <a:t>Conhecer a vida das pessoas da minha equipe, saber oque impulsiona elas a irem além.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latin typeface="+mj-lt"/>
                <a:cs typeface="Calibri"/>
              </a:rPr>
              <a:t>Liderar é</a:t>
            </a:r>
            <a:r>
              <a:rPr lang="pt-BR" sz="1600" b="0" dirty="0">
                <a:latin typeface="+mj-lt"/>
              </a:rPr>
              <a:t>: Olha na pupila da pessoa e saber se ela esta bem ou não.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latin typeface="+mj-lt"/>
              </a:rPr>
              <a:t>Nem sempre iremos ganhar, caso algum dia precise NÃO vender, esta tudo certo, é melhor ganhar a confiança dele do que dinheiro uma única vez. 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sz="1600" b="0" dirty="0">
                <a:latin typeface="+mj-lt"/>
                <a:cs typeface="Calibri"/>
              </a:rPr>
              <a:t>PASSAMOS A MAIOR PARTE DA VIDA TRABALHANDO, POR ISSO, O TRABALHO TEM QUE FAZER SENTIDO PARA NÓS.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sz="1600" b="0" dirty="0">
                <a:latin typeface="+mj-lt"/>
                <a:cs typeface="Calibri"/>
              </a:rPr>
              <a:t>O SEU TRABALHO TEM QUE TER UM PROPÓSITO. VAI VALER A PENA PORQUE EU TENHO UM PROPÓSITO!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b="0" dirty="0">
              <a:latin typeface="Calibri"/>
              <a:cs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7672374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127502-052C-E54B-0DE8-9CCC014732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9A68C90E-C20E-1DD4-FE7D-9D36688B41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92238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pc="-50" dirty="0"/>
              <a:t>ONBOARDING E TREINAMENTO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848641A9-3BED-4E48-319C-F465B7561154}"/>
              </a:ext>
            </a:extLst>
          </p:cNvPr>
          <p:cNvSpPr txBox="1"/>
          <p:nvPr/>
        </p:nvSpPr>
        <p:spPr>
          <a:xfrm>
            <a:off x="916939" y="1984853"/>
            <a:ext cx="9404985" cy="6072816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Vendas é o coração! Qual até se integra com qual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Quem se incomoda com vendas?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Fazer desenho da estrutura com o disc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Montar </a:t>
            </a:r>
            <a:r>
              <a:rPr lang="pt-BR" dirty="0" err="1">
                <a:latin typeface="Calibri"/>
                <a:cs typeface="Calibri"/>
              </a:rPr>
              <a:t>onboarding</a:t>
            </a:r>
            <a:r>
              <a:rPr lang="pt-BR" dirty="0">
                <a:latin typeface="Calibri"/>
                <a:cs typeface="Calibri"/>
              </a:rPr>
              <a:t> ( pertencimento e cronograma)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Habilidades do líder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Colocar nos </a:t>
            </a:r>
            <a:r>
              <a:rPr lang="pt-BR" dirty="0" err="1">
                <a:latin typeface="Calibri"/>
                <a:cs typeface="Calibri"/>
              </a:rPr>
              <a:t>cahc</a:t>
            </a:r>
            <a:r>
              <a:rPr lang="pt-BR" dirty="0">
                <a:latin typeface="Calibri"/>
                <a:cs typeface="Calibri"/>
              </a:rPr>
              <a:t> do </a:t>
            </a:r>
            <a:r>
              <a:rPr lang="pt-BR" dirty="0" err="1">
                <a:latin typeface="Calibri"/>
                <a:cs typeface="Calibri"/>
              </a:rPr>
              <a:t>lider</a:t>
            </a:r>
            <a:r>
              <a:rPr lang="pt-BR" dirty="0">
                <a:latin typeface="Calibri"/>
                <a:cs typeface="Calibri"/>
              </a:rPr>
              <a:t> </a:t>
            </a:r>
            <a:r>
              <a:rPr lang="pt-BR" dirty="0" err="1">
                <a:latin typeface="Calibri"/>
                <a:cs typeface="Calibri"/>
              </a:rPr>
              <a:t>oq</a:t>
            </a:r>
            <a:r>
              <a:rPr lang="pt-BR" dirty="0">
                <a:latin typeface="Calibri"/>
                <a:cs typeface="Calibri"/>
              </a:rPr>
              <a:t> melhorar nas 7 habilidades </a:t>
            </a:r>
            <a:r>
              <a:rPr lang="pt-BR" dirty="0" err="1">
                <a:latin typeface="Calibri"/>
                <a:cs typeface="Calibri"/>
              </a:rPr>
              <a:t>lider</a:t>
            </a:r>
            <a:r>
              <a:rPr lang="pt-BR" dirty="0">
                <a:latin typeface="Calibri"/>
                <a:cs typeface="Calibri"/>
              </a:rPr>
              <a:t> extraordinário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Plano de fechamento e melhoria  pra fechar meta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Metas / objetivos / </a:t>
            </a:r>
            <a:r>
              <a:rPr lang="pt-BR" dirty="0" err="1">
                <a:latin typeface="Calibri"/>
                <a:cs typeface="Calibri"/>
              </a:rPr>
              <a:t>kpis</a:t>
            </a:r>
            <a:r>
              <a:rPr lang="pt-BR" dirty="0">
                <a:latin typeface="Calibri"/>
                <a:cs typeface="Calibri"/>
              </a:rPr>
              <a:t> / treinar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Metas e follow pessoal e </a:t>
            </a:r>
            <a:r>
              <a:rPr lang="pt-BR" dirty="0" err="1">
                <a:latin typeface="Calibri"/>
                <a:cs typeface="Calibri"/>
              </a:rPr>
              <a:t>kp</a:t>
            </a:r>
            <a:endParaRPr lang="pt-BR" dirty="0">
              <a:latin typeface="Calibri"/>
              <a:cs typeface="Calibri"/>
            </a:endParaRPr>
          </a:p>
          <a:p>
            <a:pPr marL="240029" indent="-227329"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sz="1800" dirty="0">
                <a:latin typeface="Calibri"/>
                <a:cs typeface="Calibri"/>
              </a:rPr>
              <a:t>Funil venda interna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Funil digital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Criar funil de </a:t>
            </a:r>
            <a:r>
              <a:rPr lang="pt-BR" dirty="0" err="1">
                <a:latin typeface="Calibri"/>
                <a:cs typeface="Calibri"/>
              </a:rPr>
              <a:t>de</a:t>
            </a:r>
            <a:r>
              <a:rPr lang="pt-BR" dirty="0">
                <a:latin typeface="Calibri"/>
                <a:cs typeface="Calibri"/>
              </a:rPr>
              <a:t> venda e pós venda de cada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Criar modelo indicação (funcionário/premiação)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 err="1">
                <a:latin typeface="Calibri"/>
                <a:cs typeface="Calibri"/>
              </a:rPr>
              <a:t>Storytelling</a:t>
            </a:r>
            <a:r>
              <a:rPr lang="pt-BR" dirty="0">
                <a:latin typeface="Calibri"/>
                <a:cs typeface="Calibri"/>
              </a:rPr>
              <a:t> cada produto e marca (montar forma de contar história para </a:t>
            </a:r>
            <a:r>
              <a:rPr lang="pt-BR" dirty="0" err="1">
                <a:latin typeface="Calibri"/>
                <a:cs typeface="Calibri"/>
              </a:rPr>
              <a:t>conestar</a:t>
            </a:r>
            <a:r>
              <a:rPr lang="pt-BR" dirty="0">
                <a:latin typeface="Calibri"/>
                <a:cs typeface="Calibri"/>
              </a:rPr>
              <a:t> e persuadir o cliente)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Role play d venda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endParaRPr lang="pt-BR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endParaRPr lang="pt-BR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endParaRPr lang="pt-BR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endParaRPr lang="pt-BR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endParaRPr lang="pt-BR" dirty="0">
              <a:latin typeface="Calibri"/>
              <a:cs typeface="Calibri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4CE71DC3-1B03-6CA8-1342-445177FA53E9}"/>
              </a:ext>
            </a:extLst>
          </p:cNvPr>
          <p:cNvGrpSpPr/>
          <p:nvPr/>
        </p:nvGrpSpPr>
        <p:grpSpPr>
          <a:xfrm>
            <a:off x="11716004" y="6364465"/>
            <a:ext cx="482600" cy="500380"/>
            <a:chOff x="11716004" y="6364465"/>
            <a:chExt cx="482600" cy="50038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2A860846-49F7-E9A6-A219-11648BFAE5EC}"/>
                </a:ext>
              </a:extLst>
            </p:cNvPr>
            <p:cNvSpPr/>
            <p:nvPr/>
          </p:nvSpPr>
          <p:spPr>
            <a:xfrm>
              <a:off x="11722354" y="6370815"/>
              <a:ext cx="469900" cy="487680"/>
            </a:xfrm>
            <a:custGeom>
              <a:avLst/>
              <a:gdLst/>
              <a:ahLst/>
              <a:cxnLst/>
              <a:rect l="l" t="t" r="r" b="b"/>
              <a:pathLst>
                <a:path w="469900" h="487679">
                  <a:moveTo>
                    <a:pt x="469696" y="0"/>
                  </a:moveTo>
                  <a:lnTo>
                    <a:pt x="0" y="0"/>
                  </a:lnTo>
                  <a:lnTo>
                    <a:pt x="0" y="487184"/>
                  </a:lnTo>
                  <a:lnTo>
                    <a:pt x="469696" y="487184"/>
                  </a:lnTo>
                  <a:lnTo>
                    <a:pt x="46969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F361C7A0-4652-6754-C9E2-C25FB2881AAD}"/>
                </a:ext>
              </a:extLst>
            </p:cNvPr>
            <p:cNvSpPr/>
            <p:nvPr/>
          </p:nvSpPr>
          <p:spPr>
            <a:xfrm>
              <a:off x="11722354" y="6370815"/>
              <a:ext cx="469900" cy="487680"/>
            </a:xfrm>
            <a:custGeom>
              <a:avLst/>
              <a:gdLst/>
              <a:ahLst/>
              <a:cxnLst/>
              <a:rect l="l" t="t" r="r" b="b"/>
              <a:pathLst>
                <a:path w="469900" h="487679">
                  <a:moveTo>
                    <a:pt x="0" y="487184"/>
                  </a:moveTo>
                  <a:lnTo>
                    <a:pt x="469696" y="487184"/>
                  </a:lnTo>
                  <a:lnTo>
                    <a:pt x="469696" y="0"/>
                  </a:lnTo>
                  <a:lnTo>
                    <a:pt x="0" y="0"/>
                  </a:lnTo>
                  <a:lnTo>
                    <a:pt x="0" y="48718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36341834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B20F112-89A2-4CAB-2BC2-87D08888DD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 flipV="1">
            <a:off x="838200" y="457200"/>
            <a:ext cx="78739" cy="152476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2A2C7DD-C18D-0AF0-550A-0816E99406D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341" y="609676"/>
            <a:ext cx="11008995" cy="4893647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 Role play d venda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Gamificação no bi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Fazer gamificação no treinamento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Treinamento e </a:t>
            </a:r>
            <a:r>
              <a:rPr lang="pt-BR" sz="1800" b="0" dirty="0" err="1"/>
              <a:t>roleplay</a:t>
            </a:r>
            <a:r>
              <a:rPr lang="pt-BR" sz="1800" b="0" dirty="0"/>
              <a:t> gamificado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Campanha curta e gamificada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Modelo gamificação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Avaliar as ferramentas de </a:t>
            </a:r>
            <a:r>
              <a:rPr lang="pt-BR" sz="1800" b="0" dirty="0" err="1"/>
              <a:t>crm</a:t>
            </a:r>
            <a:r>
              <a:rPr lang="pt-BR" sz="1800" b="0" dirty="0"/>
              <a:t> e desenhar a nova novo Sales </a:t>
            </a:r>
            <a:r>
              <a:rPr lang="pt-BR" sz="1800" b="0" dirty="0" err="1"/>
              <a:t>hunter</a:t>
            </a:r>
            <a:r>
              <a:rPr lang="pt-BR" sz="1800" b="0" dirty="0"/>
              <a:t> / </a:t>
            </a:r>
            <a:r>
              <a:rPr lang="pt-BR" sz="1800" b="0" dirty="0" err="1"/>
              <a:t>Notion</a:t>
            </a:r>
            <a:endParaRPr lang="pt-BR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Montar calendário geral de treinamentos comercial ( todos os tipos)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Modelos case de sucesso e </a:t>
            </a:r>
            <a:r>
              <a:rPr lang="pt-BR" sz="1800" b="0" dirty="0" err="1"/>
              <a:t>vitao</a:t>
            </a:r>
            <a:r>
              <a:rPr lang="pt-BR" sz="1800" b="0" dirty="0"/>
              <a:t> </a:t>
            </a:r>
            <a:r>
              <a:rPr lang="pt-BR" sz="1800" b="0" dirty="0" err="1"/>
              <a:t>day</a:t>
            </a:r>
            <a:endParaRPr lang="pt-BR" sz="18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Implantar leitura feedbacks online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Apresentação de marca empregadora atraente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Quanto está disposto a fazer?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Quais os grandes resultados e objetivos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800" b="0" dirty="0"/>
              <a:t>Resultado diária / premiação (reconhecimento)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6145275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CA4863F-8B36-346F-1A76-D93DA2719C4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32134A88-8930-17C4-8AF5-C8CADEE9F4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922385" cy="69057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pc="-50" dirty="0"/>
              <a:t>TREINAMENTOS 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50083270-937A-5CE8-BA1D-BA02C86139B0}"/>
              </a:ext>
            </a:extLst>
          </p:cNvPr>
          <p:cNvSpPr txBox="1"/>
          <p:nvPr/>
        </p:nvSpPr>
        <p:spPr>
          <a:xfrm>
            <a:off x="916939" y="1984853"/>
            <a:ext cx="9404985" cy="521617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Como formar time capacitado e em sinergias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Criar leads indicação interno / cliente / digital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 err="1">
                <a:latin typeface="Calibri"/>
                <a:cs typeface="Calibri"/>
              </a:rPr>
              <a:t>Mvp</a:t>
            </a:r>
            <a:r>
              <a:rPr lang="pt-BR" dirty="0">
                <a:latin typeface="Calibri"/>
                <a:cs typeface="Calibri"/>
              </a:rPr>
              <a:t> comercial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Modelo treinamento e entrevista e por no </a:t>
            </a:r>
            <a:r>
              <a:rPr lang="pt-BR" dirty="0" err="1">
                <a:latin typeface="Calibri"/>
                <a:cs typeface="Calibri"/>
              </a:rPr>
              <a:t>exact</a:t>
            </a:r>
            <a:r>
              <a:rPr lang="pt-BR" dirty="0">
                <a:latin typeface="Calibri"/>
                <a:cs typeface="Calibri"/>
              </a:rPr>
              <a:t> (ver outra plataforma Leandro)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Modelo entrevista e pro no </a:t>
            </a:r>
            <a:r>
              <a:rPr lang="pt-BR" dirty="0" err="1">
                <a:latin typeface="Calibri"/>
                <a:cs typeface="Calibri"/>
              </a:rPr>
              <a:t>exact</a:t>
            </a:r>
            <a:r>
              <a:rPr lang="pt-BR" dirty="0">
                <a:latin typeface="Calibri"/>
                <a:cs typeface="Calibri"/>
              </a:rPr>
              <a:t> (ver outra plataforma Leandro)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Modelo avaliação CHAC - conhecimento / habilidade / atitude / caráter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Fazer a revisão semanal do curso e o livro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Remontar o feedback com </a:t>
            </a:r>
            <a:r>
              <a:rPr lang="pt-BR" dirty="0" err="1">
                <a:latin typeface="Calibri"/>
                <a:cs typeface="Calibri"/>
              </a:rPr>
              <a:t>chac</a:t>
            </a:r>
            <a:r>
              <a:rPr lang="pt-BR" dirty="0">
                <a:latin typeface="Calibri"/>
                <a:cs typeface="Calibri"/>
              </a:rPr>
              <a:t> e </a:t>
            </a:r>
            <a:r>
              <a:rPr lang="pt-BR" dirty="0" err="1">
                <a:latin typeface="Calibri"/>
                <a:cs typeface="Calibri"/>
              </a:rPr>
              <a:t>pag</a:t>
            </a:r>
            <a:r>
              <a:rPr lang="pt-BR" dirty="0">
                <a:latin typeface="Calibri"/>
                <a:cs typeface="Calibri"/>
              </a:rPr>
              <a:t> 66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Quem </a:t>
            </a:r>
            <a:r>
              <a:rPr lang="pt-BR" dirty="0" err="1">
                <a:latin typeface="Calibri"/>
                <a:cs typeface="Calibri"/>
              </a:rPr>
              <a:t>sao</a:t>
            </a:r>
            <a:r>
              <a:rPr lang="pt-BR" dirty="0">
                <a:latin typeface="Calibri"/>
                <a:cs typeface="Calibri"/>
              </a:rPr>
              <a:t> os top performance de treinamento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Feedback constante 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3 a 5 indicador meio ( mede </a:t>
            </a:r>
            <a:r>
              <a:rPr lang="pt-BR" dirty="0" err="1">
                <a:latin typeface="Calibri"/>
                <a:cs typeface="Calibri"/>
              </a:rPr>
              <a:t>tarefaa</a:t>
            </a:r>
            <a:r>
              <a:rPr lang="pt-BR" dirty="0">
                <a:latin typeface="Calibri"/>
                <a:cs typeface="Calibri"/>
              </a:rPr>
              <a:t>)	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3 a 5 indicador fim ( mede resultado)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Meta individual e coletiva	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 err="1">
                <a:latin typeface="Calibri"/>
                <a:cs typeface="Calibri"/>
              </a:rPr>
              <a:t>Ltv</a:t>
            </a:r>
            <a:r>
              <a:rPr lang="pt-BR" dirty="0">
                <a:latin typeface="Calibri"/>
                <a:cs typeface="Calibri"/>
              </a:rPr>
              <a:t> e Sales </a:t>
            </a:r>
            <a:r>
              <a:rPr lang="pt-BR" dirty="0" err="1">
                <a:latin typeface="Calibri"/>
                <a:cs typeface="Calibri"/>
              </a:rPr>
              <a:t>scoup</a:t>
            </a:r>
            <a:endParaRPr lang="pt-BR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Experiência do cliente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Calibri"/>
                <a:cs typeface="Calibri"/>
              </a:rPr>
              <a:t>Dashboard com as </a:t>
            </a:r>
            <a:r>
              <a:rPr lang="pt-BR" dirty="0" err="1">
                <a:latin typeface="Calibri"/>
                <a:cs typeface="Calibri"/>
              </a:rPr>
              <a:t>kpis</a:t>
            </a:r>
            <a:endParaRPr lang="pt-BR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endParaRPr lang="pt-BR" dirty="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endParaRPr lang="pt-BR" dirty="0">
              <a:latin typeface="Calibri"/>
              <a:cs typeface="Calibri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094FFC12-7CD6-5B85-F724-6599E768CE56}"/>
              </a:ext>
            </a:extLst>
          </p:cNvPr>
          <p:cNvGrpSpPr/>
          <p:nvPr/>
        </p:nvGrpSpPr>
        <p:grpSpPr>
          <a:xfrm>
            <a:off x="11716004" y="6364465"/>
            <a:ext cx="482600" cy="500380"/>
            <a:chOff x="11716004" y="6364465"/>
            <a:chExt cx="482600" cy="50038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A4A18DA-2046-B8F9-EF18-A58ECB79BF79}"/>
                </a:ext>
              </a:extLst>
            </p:cNvPr>
            <p:cNvSpPr/>
            <p:nvPr/>
          </p:nvSpPr>
          <p:spPr>
            <a:xfrm>
              <a:off x="11722354" y="6370815"/>
              <a:ext cx="469900" cy="487680"/>
            </a:xfrm>
            <a:custGeom>
              <a:avLst/>
              <a:gdLst/>
              <a:ahLst/>
              <a:cxnLst/>
              <a:rect l="l" t="t" r="r" b="b"/>
              <a:pathLst>
                <a:path w="469900" h="487679">
                  <a:moveTo>
                    <a:pt x="469696" y="0"/>
                  </a:moveTo>
                  <a:lnTo>
                    <a:pt x="0" y="0"/>
                  </a:lnTo>
                  <a:lnTo>
                    <a:pt x="0" y="487184"/>
                  </a:lnTo>
                  <a:lnTo>
                    <a:pt x="469696" y="487184"/>
                  </a:lnTo>
                  <a:lnTo>
                    <a:pt x="46969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B021B488-E9B3-E066-6220-9F09675C8D78}"/>
                </a:ext>
              </a:extLst>
            </p:cNvPr>
            <p:cNvSpPr/>
            <p:nvPr/>
          </p:nvSpPr>
          <p:spPr>
            <a:xfrm>
              <a:off x="11722354" y="6370815"/>
              <a:ext cx="469900" cy="487680"/>
            </a:xfrm>
            <a:custGeom>
              <a:avLst/>
              <a:gdLst/>
              <a:ahLst/>
              <a:cxnLst/>
              <a:rect l="l" t="t" r="r" b="b"/>
              <a:pathLst>
                <a:path w="469900" h="487679">
                  <a:moveTo>
                    <a:pt x="0" y="487184"/>
                  </a:moveTo>
                  <a:lnTo>
                    <a:pt x="469696" y="487184"/>
                  </a:lnTo>
                  <a:lnTo>
                    <a:pt x="469696" y="0"/>
                  </a:lnTo>
                  <a:lnTo>
                    <a:pt x="0" y="0"/>
                  </a:lnTo>
                  <a:lnTo>
                    <a:pt x="0" y="48718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22838238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CC0B74C-AA54-36B1-48A9-31D36AC278B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8601" y="914400"/>
            <a:ext cx="11697334" cy="1231106"/>
          </a:xfrm>
        </p:spPr>
        <p:txBody>
          <a:bodyPr/>
          <a:lstStyle/>
          <a:p>
            <a:pPr marL="285750" indent="-285750">
              <a:buFont typeface="Wingdings" panose="05000000000000000000" pitchFamily="2" charset="2"/>
              <a:buChar char="§"/>
            </a:pPr>
            <a:br>
              <a:rPr lang="pt-BR" sz="1600" dirty="0">
                <a:solidFill>
                  <a:schemeClr val="tx1"/>
                </a:solidFill>
              </a:rPr>
            </a:br>
            <a:br>
              <a:rPr lang="pt-BR" sz="1600" dirty="0">
                <a:solidFill>
                  <a:schemeClr val="tx1"/>
                </a:solidFill>
              </a:rPr>
            </a:br>
            <a:br>
              <a:rPr lang="pt-BR" sz="1600" dirty="0">
                <a:solidFill>
                  <a:schemeClr val="tx1"/>
                </a:solidFill>
              </a:rPr>
            </a:br>
            <a:br>
              <a:rPr lang="pt-BR" sz="1600" dirty="0">
                <a:solidFill>
                  <a:schemeClr val="tx1"/>
                </a:solidFill>
                <a:latin typeface="Calibri"/>
                <a:cs typeface="Calibri"/>
              </a:rPr>
            </a:br>
            <a:endParaRPr lang="pt-BR" sz="1600" dirty="0">
              <a:solidFill>
                <a:schemeClr val="tx1"/>
              </a:solidFill>
            </a:endParaRP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FE98A5E-B5D9-6A0B-A272-83B57B9EE5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341" y="762000"/>
            <a:ext cx="11008995" cy="6401753"/>
          </a:xfrm>
        </p:spPr>
        <p:txBody>
          <a:bodyPr/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/>
                </a:solidFill>
                <a:latin typeface="Calibri"/>
                <a:cs typeface="Calibri"/>
              </a:rPr>
              <a:t>Dar </a:t>
            </a:r>
            <a:r>
              <a:rPr lang="pt-BR" sz="1600" b="0" dirty="0" err="1">
                <a:solidFill>
                  <a:schemeClr val="tx1"/>
                </a:solidFill>
                <a:latin typeface="Calibri"/>
                <a:cs typeface="Calibri"/>
              </a:rPr>
              <a:t>kpost</a:t>
            </a:r>
            <a:r>
              <a:rPr lang="pt-BR" sz="1600" b="0" dirty="0">
                <a:solidFill>
                  <a:schemeClr val="tx1"/>
                </a:solidFill>
                <a:latin typeface="Calibri"/>
                <a:cs typeface="Calibri"/>
              </a:rPr>
              <a:t> (</a:t>
            </a:r>
            <a:r>
              <a:rPr lang="pt-BR" sz="1600" b="0" dirty="0" err="1">
                <a:solidFill>
                  <a:schemeClr val="tx1"/>
                </a:solidFill>
              </a:rPr>
              <a:t>Dark</a:t>
            </a:r>
            <a:r>
              <a:rPr lang="pt-BR" sz="1600" b="0" dirty="0">
                <a:solidFill>
                  <a:schemeClr val="tx1"/>
                </a:solidFill>
              </a:rPr>
              <a:t> Post é um tipo de anúncio pago que não aparece diretamente na linha do tempo da página ou do </a:t>
            </a:r>
            <a:r>
              <a:rPr lang="pt-BR" sz="1600" b="0" dirty="0" err="1">
                <a:solidFill>
                  <a:schemeClr val="tx1"/>
                </a:solidFill>
              </a:rPr>
              <a:t>perfi</a:t>
            </a:r>
            <a:r>
              <a:rPr lang="pt-BR" sz="1600" b="0" dirty="0">
                <a:solidFill>
                  <a:schemeClr val="tx1"/>
                </a:solidFill>
              </a:rPr>
              <a:t>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/>
                </a:solidFill>
              </a:rPr>
              <a:t>Estratégias topo funil</a:t>
            </a:r>
            <a:endParaRPr lang="pt-BR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/>
                </a:solidFill>
              </a:rPr>
              <a:t>Dashboard com as métrica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/>
                </a:solidFill>
              </a:rPr>
              <a:t>Passo s passo venda </a:t>
            </a:r>
            <a:r>
              <a:rPr lang="pt-BR" sz="1600" b="0" dirty="0" err="1">
                <a:solidFill>
                  <a:schemeClr val="tx1"/>
                </a:solidFill>
              </a:rPr>
              <a:t>consultivs</a:t>
            </a:r>
            <a:r>
              <a:rPr lang="pt-BR" sz="1600" b="0" dirty="0">
                <a:solidFill>
                  <a:schemeClr val="tx1"/>
                </a:solidFill>
              </a:rPr>
              <a:t> ( conexão / ouvir/ follow </a:t>
            </a:r>
            <a:r>
              <a:rPr lang="pt-BR" sz="1600" b="0" dirty="0" err="1">
                <a:solidFill>
                  <a:schemeClr val="tx1"/>
                </a:solidFill>
              </a:rPr>
              <a:t>up</a:t>
            </a:r>
            <a:r>
              <a:rPr lang="pt-BR" sz="1600" b="0" dirty="0">
                <a:solidFill>
                  <a:schemeClr val="tx1"/>
                </a:solidFill>
              </a:rPr>
              <a:t> 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/>
                </a:solidFill>
              </a:rPr>
              <a:t>Treinar time comercial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/>
                </a:solidFill>
              </a:rPr>
              <a:t>Feedback geral montar um feedback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/>
                </a:solidFill>
              </a:rPr>
              <a:t>Cronograma da feedback</a:t>
            </a:r>
            <a:endParaRPr lang="pt-BR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/>
                </a:solidFill>
              </a:rPr>
              <a:t>Feedback fatos e dados / 2- explicar sua percepção / 3- explicar o impacto negativo / 4 expectativa mudança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/>
                </a:solidFill>
              </a:rPr>
              <a:t>Rever ferramentas suporte trimestralmente</a:t>
            </a:r>
            <a:br>
              <a:rPr lang="pt-BR" sz="1600" b="0" dirty="0">
                <a:solidFill>
                  <a:schemeClr val="tx1"/>
                </a:solidFill>
              </a:rPr>
            </a:br>
            <a:r>
              <a:rPr lang="pt-BR" sz="1600" b="0" dirty="0">
                <a:solidFill>
                  <a:schemeClr val="tx1"/>
                </a:solidFill>
              </a:rPr>
              <a:t>Rever as questões abaixo com checklist:	</a:t>
            </a:r>
            <a:br>
              <a:rPr lang="pt-BR" sz="1600" b="0" dirty="0">
                <a:solidFill>
                  <a:schemeClr val="tx1"/>
                </a:solidFill>
              </a:rPr>
            </a:br>
            <a:r>
              <a:rPr lang="pt-BR" sz="1600" b="0" dirty="0">
                <a:solidFill>
                  <a:schemeClr val="tx1"/>
                </a:solidFill>
              </a:rPr>
              <a:t>Checklist Operacional: treina/ da o objetivo / indicadores/ reconhece é ferramenta de suporte/ rotina / processo / atividades … fazer checklist se todas as áreas tem	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/>
                </a:solidFill>
              </a:rPr>
              <a:t>	Checklist Tático:  funil de venda / jornada do cliente / pontos críticos / alinhamento comunicação / monitoramento e gestão indicador…: </a:t>
            </a:r>
            <a:r>
              <a:rPr lang="pt-BR" sz="1600" b="0" dirty="0" err="1">
                <a:solidFill>
                  <a:schemeClr val="tx1"/>
                </a:solidFill>
              </a:rPr>
              <a:t>check</a:t>
            </a:r>
            <a:r>
              <a:rPr lang="pt-BR" sz="1600" b="0" dirty="0">
                <a:solidFill>
                  <a:schemeClr val="tx1"/>
                </a:solidFill>
              </a:rPr>
              <a:t> listo taxa a área</a:t>
            </a:r>
            <a:endParaRPr lang="pt-BR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/>
                </a:solidFill>
              </a:rPr>
              <a:t>Estratégico: guardião da </a:t>
            </a:r>
            <a:r>
              <a:rPr lang="pt-BR" sz="1600" b="0" dirty="0" err="1">
                <a:solidFill>
                  <a:schemeClr val="tx1"/>
                </a:solidFill>
              </a:rPr>
              <a:t>visao</a:t>
            </a:r>
            <a:r>
              <a:rPr lang="pt-BR" sz="1600" b="0" dirty="0">
                <a:solidFill>
                  <a:schemeClr val="tx1"/>
                </a:solidFill>
              </a:rPr>
              <a:t> / garantir recursos e tecnologia / liderar / ser exemplo / trazer novidades..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/>
                </a:solidFill>
              </a:rPr>
              <a:t>Rescrever o funil de venda de cada </a:t>
            </a:r>
            <a:r>
              <a:rPr lang="pt-BR" sz="1600" b="0" dirty="0" err="1">
                <a:solidFill>
                  <a:schemeClr val="tx1"/>
                </a:solidFill>
              </a:rPr>
              <a:t>b.u</a:t>
            </a:r>
            <a:endParaRPr lang="pt-BR" sz="1600" b="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/>
                </a:solidFill>
              </a:rPr>
              <a:t>Desenhar ações e campanhas semanais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>
                <a:solidFill>
                  <a:schemeClr val="tx1"/>
                </a:solidFill>
              </a:rPr>
              <a:t>Ajustar as áreas o que precisa pra chegar…/ ( fiscal / produção / ti)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/>
              <a:t>Montar modelo recorrente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/>
              <a:t>Objetivos e </a:t>
            </a:r>
            <a:r>
              <a:rPr lang="pt-BR" sz="1600" b="0" dirty="0" err="1"/>
              <a:t>kpis</a:t>
            </a:r>
            <a:r>
              <a:rPr lang="pt-BR" sz="1600" b="0" dirty="0"/>
              <a:t> cada </a:t>
            </a:r>
            <a:r>
              <a:rPr lang="pt-BR" sz="1600" b="0" dirty="0" err="1"/>
              <a:t>b.u</a:t>
            </a:r>
            <a:r>
              <a:rPr lang="pt-BR" sz="1600" b="0" dirty="0"/>
              <a:t> ( 3 a 6)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/>
              <a:t>Venda perdida não volta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pt-BR" sz="1600" b="0" dirty="0"/>
              <a:t>Fazer meu cliente comprar, </a:t>
            </a:r>
            <a:r>
              <a:rPr lang="pt-BR" sz="1600" b="0" dirty="0" err="1"/>
              <a:t>sku</a:t>
            </a:r>
            <a:r>
              <a:rPr lang="pt-BR" sz="1600" b="0" dirty="0"/>
              <a:t>, soluções, fazer ele crescer. Sucesso do cliente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/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endParaRPr lang="pt-BR" sz="16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83629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0A66D4E-26EC-9A33-EA92-E143589955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 flipH="1" flipV="1">
            <a:off x="871220" y="563957"/>
            <a:ext cx="45719" cy="45719"/>
          </a:xfrm>
        </p:spPr>
        <p:txBody>
          <a:bodyPr/>
          <a:lstStyle/>
          <a:p>
            <a:endParaRPr lang="pt-BR" dirty="0"/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452ED93-4525-69DC-0238-C47350EC327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96341" y="701116"/>
            <a:ext cx="11008995" cy="3200876"/>
          </a:xfrm>
        </p:spPr>
        <p:txBody>
          <a:bodyPr/>
          <a:lstStyle/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sz="1600" b="0" dirty="0">
                <a:latin typeface="+mj-lt"/>
                <a:cs typeface="Calibri"/>
              </a:rPr>
              <a:t>VENDA ABRE RELACIONAMENTO.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sz="1600" b="0" dirty="0">
                <a:latin typeface="+mj-lt"/>
                <a:cs typeface="Calibri"/>
              </a:rPr>
              <a:t>MAIS IMPORTANTE DO QUE VENDER, É ENTREGAR.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sz="1600" b="0" dirty="0">
                <a:latin typeface="+mj-lt"/>
                <a:cs typeface="Calibri"/>
              </a:rPr>
              <a:t>TREINAMENTOS 3 X NA SEMANA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sz="1600" b="0" dirty="0">
                <a:latin typeface="+mj-lt"/>
                <a:cs typeface="Calibri"/>
              </a:rPr>
              <a:t>ROTINA GERA CONEXÃO. ROTINA GERA APROXIMAÇÃO.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sz="1600" b="0" dirty="0">
                <a:latin typeface="+mj-lt"/>
                <a:cs typeface="Calibri"/>
              </a:rPr>
              <a:t>TREINAR EQUIPE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sz="1600" b="0" dirty="0">
                <a:latin typeface="+mj-lt"/>
                <a:cs typeface="Calibri"/>
              </a:rPr>
              <a:t>INDICADORES DE VENDAS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sz="1600" b="0" dirty="0">
                <a:latin typeface="+mj-lt"/>
                <a:cs typeface="Calibri"/>
              </a:rPr>
              <a:t>INDICADORES QUE MOSTRAM QUE ESTAMOS MELHORANDO.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sz="1600" b="0" dirty="0">
                <a:latin typeface="+mj-lt"/>
                <a:cs typeface="Calibri"/>
              </a:rPr>
              <a:t>NINGUÉM SE MOVE PELO QUE NÃO SABE.</a:t>
            </a:r>
          </a:p>
          <a:p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39627111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11DC65-EE9F-7D62-D39F-EC4DD6D881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>
            <a:extLst>
              <a:ext uri="{FF2B5EF4-FFF2-40B4-BE49-F238E27FC236}">
                <a16:creationId xmlns:a16="http://schemas.microsoft.com/office/drawing/2014/main" id="{002D1446-2251-EFF9-DD4D-4837708EA82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916939" y="609676"/>
            <a:ext cx="8922385" cy="136768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 algn="ctr">
              <a:lnSpc>
                <a:spcPct val="100000"/>
              </a:lnSpc>
              <a:spcBef>
                <a:spcPts val="105"/>
              </a:spcBef>
            </a:pPr>
            <a:r>
              <a:rPr lang="pt-BR" spc="-50" dirty="0"/>
              <a:t>OBJETIVOS E ACOMPANHAMENTO DE VENDA/ FEEDBACK</a:t>
            </a:r>
            <a:endParaRPr spc="-25" dirty="0"/>
          </a:p>
        </p:txBody>
      </p:sp>
      <p:sp>
        <p:nvSpPr>
          <p:cNvPr id="3" name="object 3">
            <a:extLst>
              <a:ext uri="{FF2B5EF4-FFF2-40B4-BE49-F238E27FC236}">
                <a16:creationId xmlns:a16="http://schemas.microsoft.com/office/drawing/2014/main" id="{1C5E61B9-EBD0-B623-459D-9EFE44592EA5}"/>
              </a:ext>
            </a:extLst>
          </p:cNvPr>
          <p:cNvSpPr txBox="1"/>
          <p:nvPr/>
        </p:nvSpPr>
        <p:spPr>
          <a:xfrm>
            <a:off x="916939" y="1984853"/>
            <a:ext cx="9404985" cy="29488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+mj-lt"/>
                <a:cs typeface="Calibri"/>
              </a:rPr>
              <a:t>FECHAMENTO É UMA ARTE, TEM O TEMPO CERTO.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+mj-lt"/>
                <a:cs typeface="Calibri"/>
              </a:rPr>
              <a:t>PÓS VENDA: LIGAR E SABER SE ESTÁ TUDO BEM. GERAR RELACIONAMENTO. PÓS VENDA NÃO É VENDER.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+mj-lt"/>
                <a:cs typeface="Calibri"/>
              </a:rPr>
              <a:t>A TÉCNICA E O ACOMPANHAMENTO TE FAZEM IR MAIS LONGE.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+mj-lt"/>
                <a:cs typeface="Calibri"/>
              </a:rPr>
              <a:t>FOCAR NA TAREFA SABENDO AONDE IRÁ CHEGAR.</a:t>
            </a:r>
          </a:p>
          <a:p>
            <a:pPr indent="540000" algn="just">
              <a:lnSpc>
                <a:spcPct val="150000"/>
              </a:lnSpc>
              <a:buFont typeface="Arial"/>
              <a:buChar char="•"/>
              <a:tabLst>
                <a:tab pos="240029" algn="l"/>
              </a:tabLst>
            </a:pPr>
            <a:r>
              <a:rPr lang="pt-BR" dirty="0">
                <a:latin typeface="+mj-lt"/>
                <a:cs typeface="Calibri"/>
              </a:rPr>
              <a:t>OBJETIVO NÃO É VENDER UMA SÓ VENDAS. FAÇA O PÓS VENDA.</a:t>
            </a:r>
          </a:p>
          <a:p>
            <a:pPr marL="240029" indent="-227329">
              <a:lnSpc>
                <a:spcPct val="100000"/>
              </a:lnSpc>
              <a:spcBef>
                <a:spcPts val="95"/>
              </a:spcBef>
              <a:buFont typeface="Arial"/>
              <a:buChar char="•"/>
              <a:tabLst>
                <a:tab pos="240029" algn="l"/>
              </a:tabLst>
            </a:pPr>
            <a:endParaRPr lang="pt-BR" sz="2800" dirty="0">
              <a:latin typeface="Calibri"/>
              <a:cs typeface="Calibri"/>
            </a:endParaRPr>
          </a:p>
        </p:txBody>
      </p:sp>
      <p:grpSp>
        <p:nvGrpSpPr>
          <p:cNvPr id="4" name="object 4">
            <a:extLst>
              <a:ext uri="{FF2B5EF4-FFF2-40B4-BE49-F238E27FC236}">
                <a16:creationId xmlns:a16="http://schemas.microsoft.com/office/drawing/2014/main" id="{F6473C51-F5D0-51A6-E636-E383ED87A46D}"/>
              </a:ext>
            </a:extLst>
          </p:cNvPr>
          <p:cNvGrpSpPr/>
          <p:nvPr/>
        </p:nvGrpSpPr>
        <p:grpSpPr>
          <a:xfrm>
            <a:off x="11716004" y="6364465"/>
            <a:ext cx="482600" cy="500380"/>
            <a:chOff x="11716004" y="6364465"/>
            <a:chExt cx="482600" cy="500380"/>
          </a:xfrm>
        </p:grpSpPr>
        <p:sp>
          <p:nvSpPr>
            <p:cNvPr id="5" name="object 5">
              <a:extLst>
                <a:ext uri="{FF2B5EF4-FFF2-40B4-BE49-F238E27FC236}">
                  <a16:creationId xmlns:a16="http://schemas.microsoft.com/office/drawing/2014/main" id="{E0B5D3E8-0858-04F2-84B2-FD30900CC3D1}"/>
                </a:ext>
              </a:extLst>
            </p:cNvPr>
            <p:cNvSpPr/>
            <p:nvPr/>
          </p:nvSpPr>
          <p:spPr>
            <a:xfrm>
              <a:off x="11722354" y="6370815"/>
              <a:ext cx="469900" cy="487680"/>
            </a:xfrm>
            <a:custGeom>
              <a:avLst/>
              <a:gdLst/>
              <a:ahLst/>
              <a:cxnLst/>
              <a:rect l="l" t="t" r="r" b="b"/>
              <a:pathLst>
                <a:path w="469900" h="487679">
                  <a:moveTo>
                    <a:pt x="469696" y="0"/>
                  </a:moveTo>
                  <a:lnTo>
                    <a:pt x="0" y="0"/>
                  </a:lnTo>
                  <a:lnTo>
                    <a:pt x="0" y="487184"/>
                  </a:lnTo>
                  <a:lnTo>
                    <a:pt x="469696" y="487184"/>
                  </a:lnTo>
                  <a:lnTo>
                    <a:pt x="469696" y="0"/>
                  </a:lnTo>
                  <a:close/>
                </a:path>
              </a:pathLst>
            </a:custGeom>
            <a:solidFill>
              <a:srgbClr val="FFFF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>
              <a:extLst>
                <a:ext uri="{FF2B5EF4-FFF2-40B4-BE49-F238E27FC236}">
                  <a16:creationId xmlns:a16="http://schemas.microsoft.com/office/drawing/2014/main" id="{3D9BF72A-836E-AC2E-C16F-58BB3BA56231}"/>
                </a:ext>
              </a:extLst>
            </p:cNvPr>
            <p:cNvSpPr/>
            <p:nvPr/>
          </p:nvSpPr>
          <p:spPr>
            <a:xfrm>
              <a:off x="11722354" y="6370815"/>
              <a:ext cx="469900" cy="487680"/>
            </a:xfrm>
            <a:custGeom>
              <a:avLst/>
              <a:gdLst/>
              <a:ahLst/>
              <a:cxnLst/>
              <a:rect l="l" t="t" r="r" b="b"/>
              <a:pathLst>
                <a:path w="469900" h="487679">
                  <a:moveTo>
                    <a:pt x="0" y="487184"/>
                  </a:moveTo>
                  <a:lnTo>
                    <a:pt x="469696" y="487184"/>
                  </a:lnTo>
                  <a:lnTo>
                    <a:pt x="469696" y="0"/>
                  </a:lnTo>
                  <a:lnTo>
                    <a:pt x="0" y="0"/>
                  </a:lnTo>
                  <a:lnTo>
                    <a:pt x="0" y="487184"/>
                  </a:lnTo>
                  <a:close/>
                </a:path>
              </a:pathLst>
            </a:custGeom>
            <a:ln w="12700">
              <a:solidFill>
                <a:srgbClr val="172C51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636645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488</TotalTime>
  <Words>1141</Words>
  <Application>Microsoft Office PowerPoint</Application>
  <PresentationFormat>Widescreen</PresentationFormat>
  <Paragraphs>137</Paragraphs>
  <Slides>11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11</vt:i4>
      </vt:variant>
    </vt:vector>
  </HeadingPairs>
  <TitlesOfParts>
    <vt:vector size="15" baseType="lpstr">
      <vt:lpstr>Arial</vt:lpstr>
      <vt:lpstr>Calibri</vt:lpstr>
      <vt:lpstr>Wingdings</vt:lpstr>
      <vt:lpstr>Office Theme</vt:lpstr>
      <vt:lpstr>PROGRAMA DE FORMAÇÃO DE TIME DE VENDAS VITAO ALIMENTOS</vt:lpstr>
      <vt:lpstr>CULTURA DE VENDAS</vt:lpstr>
      <vt:lpstr>Apresentação do PowerPoint</vt:lpstr>
      <vt:lpstr>CULTURA DE VENDAS E CONTRATAÇÃO</vt:lpstr>
      <vt:lpstr>Apresentação do PowerPoint</vt:lpstr>
      <vt:lpstr>ONBOARDING E TREINAMENTO</vt:lpstr>
      <vt:lpstr>Apresentação do PowerPoint</vt:lpstr>
      <vt:lpstr>TREINAMENTOS </vt:lpstr>
      <vt:lpstr>    </vt:lpstr>
      <vt:lpstr>Apresentação do PowerPoint</vt:lpstr>
      <vt:lpstr>OBJETIVOS E ACOMPANHAMENTO DE VENDA/ FEEDBACK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Leonardo Temperini</dc:creator>
  <cp:lastModifiedBy>Leandro Garcia</cp:lastModifiedBy>
  <cp:revision>8</cp:revision>
  <dcterms:created xsi:type="dcterms:W3CDTF">2025-02-15T11:38:51Z</dcterms:created>
  <dcterms:modified xsi:type="dcterms:W3CDTF">2025-03-03T20:59:20Z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2025-02-14T00:00:00Z</vt:filetime>
  </property>
  <property fmtid="{D5CDD505-2E9C-101B-9397-08002B2CF9AE}" pid="3" name="Creator">
    <vt:lpwstr>Microsoft® PowerPoint® 2021</vt:lpwstr>
  </property>
  <property fmtid="{D5CDD505-2E9C-101B-9397-08002B2CF9AE}" pid="4" name="LastSaved">
    <vt:filetime>2025-02-15T00:00:00Z</vt:filetime>
  </property>
  <property fmtid="{D5CDD505-2E9C-101B-9397-08002B2CF9AE}" pid="5" name="Producer">
    <vt:lpwstr>Microsoft® PowerPoint® 2021</vt:lpwstr>
  </property>
</Properties>
</file>